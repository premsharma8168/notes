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3" r:id="rId2"/>
    <p:sldId id="257" r:id="rId3"/>
    <p:sldId id="275" r:id="rId4"/>
    <p:sldId id="259" r:id="rId5"/>
    <p:sldId id="277" r:id="rId6"/>
    <p:sldId id="278" r:id="rId7"/>
    <p:sldId id="279" r:id="rId8"/>
    <p:sldId id="280" r:id="rId9"/>
    <p:sldId id="271" r:id="rId10"/>
    <p:sldId id="281" r:id="rId11"/>
    <p:sldId id="282" r:id="rId12"/>
    <p:sldId id="283" r:id="rId13"/>
    <p:sldId id="284" r:id="rId14"/>
    <p:sldId id="276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62F1D-DDF7-4D25-969F-9E189E70E25A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B1ED7-0276-4BA5-A6E3-6345F5A3A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84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7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2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9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2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9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5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82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1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0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93A4-5682-4857-B400-E2CC1F3E3D88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7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93A4-5682-4857-B400-E2CC1F3E3D88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A87CC-9811-4CA2-8053-9B67883B0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98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3656" y="2468889"/>
            <a:ext cx="11364685" cy="681934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Agile Manifesto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756228" y="1786955"/>
            <a:ext cx="9144000" cy="681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</a:t>
            </a:r>
            <a:endParaRPr lang="en-US"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0" y="5624053"/>
            <a:ext cx="12191999" cy="123394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Dr. Nikhil Govil</a:t>
            </a:r>
          </a:p>
          <a:p>
            <a:r>
              <a:rPr lang="en-US" sz="2800" dirty="0">
                <a:solidFill>
                  <a:srgbClr val="FFFF00"/>
                </a:solidFill>
                <a:latin typeface="Souvenir" panose="02000503000000020003" pitchFamily="2" charset="0"/>
                <a:cs typeface="Times New Roman" panose="02020603050405020304" pitchFamily="18" charset="0"/>
              </a:rPr>
              <a:t>Associate Professor, Program Coordinator – B.Tech. (CSE), Dept. of CEA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278" y="109031"/>
            <a:ext cx="2909443" cy="16543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BD9C97-0C4C-21DD-4358-A442AD60A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256" y="3283945"/>
            <a:ext cx="4957483" cy="22069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8108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252" y="275304"/>
            <a:ext cx="7352071" cy="726802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Manifesto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348" y="1091927"/>
            <a:ext cx="10181303" cy="558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5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1302613" y="2949678"/>
            <a:ext cx="4006485" cy="726802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Manifesto</a:t>
            </a:r>
          </a:p>
        </p:txBody>
      </p:sp>
      <p:pic>
        <p:nvPicPr>
          <p:cNvPr id="4" name="Picture 3" descr="C:\Users\User\Desktop\NAAC\gla-ful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No alternative text description for this image">
            <a:extLst>
              <a:ext uri="{FF2B5EF4-FFF2-40B4-BE49-F238E27FC236}">
                <a16:creationId xmlns:a16="http://schemas.microsoft.com/office/drawing/2014/main" id="{CE0DBB3E-4F3F-A8C7-369F-C51043957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247" y="91221"/>
            <a:ext cx="7525505" cy="6675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03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45" y="147731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Values of Agile Manifesto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6C7D6E17-C495-3367-9729-B7ACDD215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4F11A7-5F8A-C3C5-FB32-F75C00C08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43" y="1327353"/>
            <a:ext cx="9689314" cy="518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84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45" y="147731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Values of Agile Manifesto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74739" y="1464861"/>
            <a:ext cx="10515600" cy="4906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and Interactions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Processes and Tools</a:t>
            </a:r>
          </a:p>
          <a:p>
            <a:pPr marL="0" indent="0">
              <a:buNone/>
            </a:pPr>
            <a:endParaRPr lang="en-US" sz="3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value of the Agile manifesto focuses on giving importance to communication with the clients. 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things a client may want to ask and it is the responsibility of the team members to ensure that all questions and suggestions of the clients are promptly dealt with.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6C7D6E17-C495-3367-9729-B7ACDD215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629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45" y="147731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Values of Agile Manifesto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74739" y="1464861"/>
            <a:ext cx="10515600" cy="4906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Software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Comprehensive Documentation</a:t>
            </a:r>
          </a:p>
          <a:p>
            <a:pPr marL="0" indent="0">
              <a:buNone/>
            </a:pPr>
            <a:endParaRPr lang="en-US" sz="3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past, more focus used to be on proper documentation of every aspect of the project. 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Agile values dictate that the first and foremost duty of the project team is completing the final deliverables as identified by the customers.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6C7D6E17-C495-3367-9729-B7ACDD215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6736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45" y="147731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Values of Agile Manifesto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74739" y="1464861"/>
            <a:ext cx="10515600" cy="51325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Collaboration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Contract Negotiation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principles require customers to be involved in all phases of the project. 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Waterfall approach or Traditional methodologies only allow customers to negotiate before and after the project. 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customers are kept in the loop during the development process, team members can ensure that the final product meets all the requirements of the client.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6C7D6E17-C495-3367-9729-B7ACDD215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9344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45" y="147731"/>
            <a:ext cx="8173065" cy="96223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Values of Agile Manifesto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74739" y="1464861"/>
            <a:ext cx="10515600" cy="5132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Responding to Change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Following a Plan</a:t>
            </a:r>
          </a:p>
          <a:p>
            <a:pPr marL="0" indent="0">
              <a:buNone/>
            </a:pPr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Circumstances change and sometimes customers demand extra features in the final product that may change the project scope.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these cases, project managers and their teams must adapt quickly in order to deliver a quality product and ensure 100% customer satisfaction.</a:t>
            </a:r>
          </a:p>
        </p:txBody>
      </p:sp>
      <p:pic>
        <p:nvPicPr>
          <p:cNvPr id="3" name="Picture 2" descr="C:\Users\User\Desktop\NAAC\gla-full.png">
            <a:extLst>
              <a:ext uri="{FF2B5EF4-FFF2-40B4-BE49-F238E27FC236}">
                <a16:creationId xmlns:a16="http://schemas.microsoft.com/office/drawing/2014/main" id="{6C7D6E17-C495-3367-9729-B7ACDD215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472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9B8512-A17D-D42D-16BC-D12F940D5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01" y="1229032"/>
            <a:ext cx="11507197" cy="5263843"/>
          </a:xfrm>
          <a:prstGeom prst="rect">
            <a:avLst/>
          </a:prstGeom>
        </p:spPr>
      </p:pic>
      <p:pic>
        <p:nvPicPr>
          <p:cNvPr id="9" name="Picture 8" descr="C:\Users\User\Desktop\NAAC\gla-full.png">
            <a:extLst>
              <a:ext uri="{FF2B5EF4-FFF2-40B4-BE49-F238E27FC236}">
                <a16:creationId xmlns:a16="http://schemas.microsoft.com/office/drawing/2014/main" id="{32BB7D9C-ED2C-486F-1F9F-F26F01124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AC38216-6AC6-872C-05E2-E2EE506982DA}"/>
              </a:ext>
            </a:extLst>
          </p:cNvPr>
          <p:cNvSpPr txBox="1">
            <a:spLocks/>
          </p:cNvSpPr>
          <p:nvPr/>
        </p:nvSpPr>
        <p:spPr>
          <a:xfrm>
            <a:off x="563058" y="129697"/>
            <a:ext cx="6565490" cy="962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The Twelve Agile Principles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39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:\Users\User\Desktop\NAAC\gla-full.png">
            <a:extLst>
              <a:ext uri="{FF2B5EF4-FFF2-40B4-BE49-F238E27FC236}">
                <a16:creationId xmlns:a16="http://schemas.microsoft.com/office/drawing/2014/main" id="{32BB7D9C-ED2C-486F-1F9F-F26F01124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AC38216-6AC6-872C-05E2-E2EE506982DA}"/>
              </a:ext>
            </a:extLst>
          </p:cNvPr>
          <p:cNvSpPr txBox="1">
            <a:spLocks/>
          </p:cNvSpPr>
          <p:nvPr/>
        </p:nvSpPr>
        <p:spPr>
          <a:xfrm>
            <a:off x="563058" y="129697"/>
            <a:ext cx="6565490" cy="962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The Twelve Agile Principles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5C643-9F6A-A676-7696-F8549D7940BA}"/>
              </a:ext>
            </a:extLst>
          </p:cNvPr>
          <p:cNvSpPr txBox="1"/>
          <p:nvPr/>
        </p:nvSpPr>
        <p:spPr>
          <a:xfrm>
            <a:off x="563057" y="1355266"/>
            <a:ext cx="1081286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Customer Satisfaction is the highest priority</a:t>
            </a:r>
          </a:p>
          <a:p>
            <a:pPr algn="just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highest priority is to satisfy the customer through early and continuous delivery of valuable software.</a:t>
            </a:r>
          </a:p>
          <a:p>
            <a:pPr algn="just"/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Welcome changing requirements, even late in development</a:t>
            </a:r>
          </a:p>
          <a:p>
            <a:pPr algn="just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changing requirements, even late in development. Agile processes harness change for the customer’s competitive advantage.</a:t>
            </a:r>
          </a:p>
          <a:p>
            <a:pPr algn="just"/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Deliver working software frequently</a:t>
            </a:r>
          </a:p>
          <a:p>
            <a:pPr algn="just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working software frequently, from a couple of weeks to a couple of months, with a preference to the shorter timescale.</a:t>
            </a:r>
          </a:p>
        </p:txBody>
      </p:sp>
    </p:spTree>
    <p:extLst>
      <p:ext uri="{BB962C8B-B14F-4D97-AF65-F5344CB8AC3E}">
        <p14:creationId xmlns:p14="http://schemas.microsoft.com/office/powerpoint/2010/main" val="34822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:\Users\User\Desktop\NAAC\gla-full.png">
            <a:extLst>
              <a:ext uri="{FF2B5EF4-FFF2-40B4-BE49-F238E27FC236}">
                <a16:creationId xmlns:a16="http://schemas.microsoft.com/office/drawing/2014/main" id="{32BB7D9C-ED2C-486F-1F9F-F26F01124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AC38216-6AC6-872C-05E2-E2EE506982DA}"/>
              </a:ext>
            </a:extLst>
          </p:cNvPr>
          <p:cNvSpPr txBox="1">
            <a:spLocks/>
          </p:cNvSpPr>
          <p:nvPr/>
        </p:nvSpPr>
        <p:spPr>
          <a:xfrm>
            <a:off x="563058" y="129697"/>
            <a:ext cx="6565490" cy="962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The Twelve Agile Principles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5C643-9F6A-A676-7696-F8549D7940BA}"/>
              </a:ext>
            </a:extLst>
          </p:cNvPr>
          <p:cNvSpPr txBox="1"/>
          <p:nvPr/>
        </p:nvSpPr>
        <p:spPr>
          <a:xfrm>
            <a:off x="563058" y="1243476"/>
            <a:ext cx="1081286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Promoting Collaboration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people and developers must work together daily throughout the project.</a:t>
            </a:r>
          </a:p>
          <a:p>
            <a:pPr algn="just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Build projects around motivated individuals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projects around motivated individuals. Give them the environment &amp; support they need, and trust them to get the job done.</a:t>
            </a:r>
          </a:p>
          <a:p>
            <a:pPr algn="just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Face-to-face conversations for conveying information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efficient and effective method of conveying information to and within a development team is face-to-face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30862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:\Users\User\Desktop\NAAC\gla-full.png">
            <a:extLst>
              <a:ext uri="{FF2B5EF4-FFF2-40B4-BE49-F238E27FC236}">
                <a16:creationId xmlns:a16="http://schemas.microsoft.com/office/drawing/2014/main" id="{32BB7D9C-ED2C-486F-1F9F-F26F01124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AC38216-6AC6-872C-05E2-E2EE506982DA}"/>
              </a:ext>
            </a:extLst>
          </p:cNvPr>
          <p:cNvSpPr txBox="1">
            <a:spLocks/>
          </p:cNvSpPr>
          <p:nvPr/>
        </p:nvSpPr>
        <p:spPr>
          <a:xfrm>
            <a:off x="563058" y="129697"/>
            <a:ext cx="6565490" cy="962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The Twelve Agile Principles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5C643-9F6A-A676-7696-F8549D7940BA}"/>
              </a:ext>
            </a:extLst>
          </p:cNvPr>
          <p:cNvSpPr txBox="1"/>
          <p:nvPr/>
        </p:nvSpPr>
        <p:spPr>
          <a:xfrm>
            <a:off x="563058" y="1243476"/>
            <a:ext cx="1081286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Tracking outputs instead of done tasks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software is the primary measure of progress.</a:t>
            </a:r>
          </a:p>
          <a:p>
            <a:pPr algn="just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Agile processes promote sustainable development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processes promote sustainable development. The sponsors, developers, and users should be able to maintain a constant pace indefinitely.</a:t>
            </a:r>
          </a:p>
          <a:p>
            <a:pPr algn="just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Technical excellence and good design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attention to technical excellence and good design enhances agility.</a:t>
            </a:r>
          </a:p>
        </p:txBody>
      </p:sp>
    </p:spTree>
    <p:extLst>
      <p:ext uri="{BB962C8B-B14F-4D97-AF65-F5344CB8AC3E}">
        <p14:creationId xmlns:p14="http://schemas.microsoft.com/office/powerpoint/2010/main" val="182174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:\Users\User\Desktop\NAAC\gla-full.png">
            <a:extLst>
              <a:ext uri="{FF2B5EF4-FFF2-40B4-BE49-F238E27FC236}">
                <a16:creationId xmlns:a16="http://schemas.microsoft.com/office/drawing/2014/main" id="{32BB7D9C-ED2C-486F-1F9F-F26F01124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AC38216-6AC6-872C-05E2-E2EE506982DA}"/>
              </a:ext>
            </a:extLst>
          </p:cNvPr>
          <p:cNvSpPr txBox="1">
            <a:spLocks/>
          </p:cNvSpPr>
          <p:nvPr/>
        </p:nvSpPr>
        <p:spPr>
          <a:xfrm>
            <a:off x="563058" y="129697"/>
            <a:ext cx="6565490" cy="962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The Twelve Agile Principles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5C643-9F6A-A676-7696-F8549D7940BA}"/>
              </a:ext>
            </a:extLst>
          </p:cNvPr>
          <p:cNvSpPr txBox="1"/>
          <p:nvPr/>
        </p:nvSpPr>
        <p:spPr>
          <a:xfrm>
            <a:off x="563058" y="1243476"/>
            <a:ext cx="1081286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Simplicity is essential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simple code without unnecessary complexity is essential.</a:t>
            </a:r>
          </a:p>
          <a:p>
            <a:pPr algn="just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Self-organized teams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architectures, requirements, and designs emerge from self-organizing teams.</a:t>
            </a:r>
          </a:p>
          <a:p>
            <a:pPr algn="just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Continuous Improvement 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regular intervals, the team reflects on how to become more effective, then tunes and adjusts its behavior accordingly.</a:t>
            </a:r>
          </a:p>
        </p:txBody>
      </p:sp>
    </p:spTree>
    <p:extLst>
      <p:ext uri="{BB962C8B-B14F-4D97-AF65-F5344CB8AC3E}">
        <p14:creationId xmlns:p14="http://schemas.microsoft.com/office/powerpoint/2010/main" val="323922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781" y="228020"/>
            <a:ext cx="3920613" cy="863907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781" y="1457053"/>
            <a:ext cx="11228438" cy="5120727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Schawber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Mike Beedle, Agile Software Development with Scrum, Pearson, 2008.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Robert C. Martin, Agile Software Development, Principles, Patterns and Practices, Prentice Hall, 2002.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Lisa Crispin &amp; Janet Gregory, Agile Testing: A Practical Guide for Testers and Agile Teams, Addison Wesley, 2008.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Alistair Cockburn, Agile Software Development: The Cooperative Game, Addison Wesley, 2006.</a:t>
            </a:r>
          </a:p>
        </p:txBody>
      </p:sp>
      <p:pic>
        <p:nvPicPr>
          <p:cNvPr id="5" name="Picture 4" descr="C:\Users\User\Desktop\NAAC\gla-full.png">
            <a:extLst>
              <a:ext uri="{FF2B5EF4-FFF2-40B4-BE49-F238E27FC236}">
                <a16:creationId xmlns:a16="http://schemas.microsoft.com/office/drawing/2014/main" id="{58A82CD4-B653-20EB-08A0-F89679217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5242" y="0"/>
            <a:ext cx="2261849" cy="1091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841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ow To Write A Thank You Note In Five Easy Steps">
            <a:extLst>
              <a:ext uri="{FF2B5EF4-FFF2-40B4-BE49-F238E27FC236}">
                <a16:creationId xmlns:a16="http://schemas.microsoft.com/office/drawing/2014/main" id="{CAF25437-4356-1F3A-5238-4EFD81C62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202" y="1758103"/>
            <a:ext cx="5947595" cy="334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6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671</Words>
  <Application>Microsoft Office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Souvenir</vt:lpstr>
      <vt:lpstr>Times New Roman</vt:lpstr>
      <vt:lpstr>Office Theme</vt:lpstr>
      <vt:lpstr>PowerPoint Presentation</vt:lpstr>
      <vt:lpstr>Agile Manifesto</vt:lpstr>
      <vt:lpstr>Agile Manifesto</vt:lpstr>
      <vt:lpstr>The Four Values of Agile Manifesto</vt:lpstr>
      <vt:lpstr>The Four Values of Agile Manifesto</vt:lpstr>
      <vt:lpstr>The Four Values of Agile Manifesto</vt:lpstr>
      <vt:lpstr>The Four Values of Agile Manifesto</vt:lpstr>
      <vt:lpstr>The Four Values of Agile Manifesto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 Books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Nikhil Govil</dc:creator>
  <cp:lastModifiedBy>Windows User</cp:lastModifiedBy>
  <cp:revision>197</cp:revision>
  <dcterms:created xsi:type="dcterms:W3CDTF">2020-08-05T08:53:59Z</dcterms:created>
  <dcterms:modified xsi:type="dcterms:W3CDTF">2024-09-09T18:08:56Z</dcterms:modified>
</cp:coreProperties>
</file>